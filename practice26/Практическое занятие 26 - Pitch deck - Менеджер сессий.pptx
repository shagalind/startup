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7" d="100"/>
          <a:sy n="17" d="100"/>
        </p:scale>
        <p:origin x="586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6F5C7E-580F-479A-9127-388B629EC045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E3F23C-97E8-42B1-B826-E1DFD54433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8931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Допущение команды + практика №19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3F23C-97E8-42B1-B826-E1DFD5443344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3513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hh.ru, Dream Job — </a:t>
            </a:r>
            <a:r>
              <a:rPr lang="ru-RU"/>
              <a:t>зарплаты </a:t>
            </a:r>
            <a:r>
              <a:rPr lang="en-US"/>
              <a:t>SMM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3F23C-97E8-42B1-B826-E1DFD5443344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123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TAM/SAM/SOM — </a:t>
            </a:r>
            <a:r>
              <a:rPr lang="ru-RU"/>
              <a:t>допущение команды; </a:t>
            </a:r>
            <a:r>
              <a:rPr lang="en-US"/>
              <a:t>TAdviser — </a:t>
            </a:r>
            <a:r>
              <a:rPr lang="ru-RU"/>
              <a:t>рынок </a:t>
            </a:r>
            <a:r>
              <a:rPr lang="en-US"/>
              <a:t>SaaS</a:t>
            </a:r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3F23C-97E8-42B1-B826-E1DFD5443344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0168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Финмодель практика №24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3F23C-97E8-42B1-B826-E1DFD5443344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9679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/>
              <a:t>Модель </a:t>
            </a:r>
            <a:r>
              <a:rPr lang="en-US"/>
              <a:t>base, </a:t>
            </a:r>
            <a:r>
              <a:rPr lang="ru-RU"/>
              <a:t>практика №24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3F23C-97E8-42B1-B826-E1DFD5443344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4810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B5EA65-8D19-4492-914B-1E20B83C0E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F0E98DD-3310-4D65-A3DE-9DF933957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58FD0F0-46F4-4E26-8DBE-196B03AC7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A56B130-1CBA-449C-B4DC-EB89C4D5A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07D78A-636E-466A-AFB1-3DF738332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772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1A2102-269B-42F6-AA12-8A653CFD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041738-C17B-47FE-84E1-4B536B804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3E023-81ED-420A-8313-2F2FF6B9B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187660-4DD6-43EA-9225-A98608122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E05BBF-47F3-4B53-8E8A-55292112E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3959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7DA57C-FD4F-4B13-889A-9EB7045D1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4AC177A-59F5-4EBB-8D3D-F4E4D22C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0206913-2FF2-451D-8D76-5187B728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0AFBAE-B79A-477A-B7ED-7DBFAC9CA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3227CD8-D4E5-4C09-9661-046CD9C45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9311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778EF1-CF35-486F-9620-53CFBA6B8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A4F6B53-698C-4DCC-A296-B0CF2A359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ADF5D3B-82F4-4435-9C42-346C5ED885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1493C00-980C-42DF-8018-85DC5C74C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6058DE-2AB2-4B89-96AC-6F57C5C7B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DFCE5FD-F1E3-4340-A473-D0F49AD53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287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AEA3FE-4B3F-49CE-A9D4-2D1FC70DF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8D3F3CC-AA36-4A24-9E9D-A7D2ABBD8C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AC66CD3-9207-4EA5-BEB1-7F816AC88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4ECBD5E-8FDA-41F8-B324-5F151A43D6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3EC6B14-F308-4E7A-8EC0-5B21752A8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A52CE23-0438-451F-810C-DD4BCAB46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C411A4-2138-45BC-B51A-E7A2FA558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B39F83-6111-493F-8E0F-F3F8CC8EB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7776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A8727-D4C2-404C-BA33-D63853B9B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9421F2F-FA2F-412B-8E29-1E0D7F133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A7D524C-38DB-43F1-82A3-71B2993C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19AB580B-4236-4588-97B2-015C656DB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4392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4928404-A7AF-40FB-BD58-63CBA99E6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337004-0390-475B-8129-632A8F2D1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12A098-A20B-41E6-8C04-7E1737A38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50302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2F96A-9533-4531-B94C-40CCEEAD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EB7A58-63CF-4F7A-B17E-A9CA51B94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1404F73-CB3D-4E1C-9A3A-8633AF7EA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156471B-54A9-4F43-B58D-78E48FB25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CDE57B6-3AD7-4406-A94C-1057414B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1FFBBF4-56CD-4A2C-9946-718601B77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5131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4D0526-42E4-44A4-BEFA-BC5340E43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A3D9A8D-AA8E-4727-A610-C707BBBA09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3F3ED64-9360-47B8-AFCB-0FFCDE0677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9CCE728-C033-4B8E-A5FE-10794AE23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E273796-D7AB-47A2-A608-1C84E9963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39673D7-DC39-463C-8F73-3C8D89543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0117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7B4A-3300-4A2D-8A07-715E6C20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EBFF521-2A5B-4B6B-8CA2-E9DF00B32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B3D09A-26BF-42F2-951D-2BEDB9E79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30D847A-2865-4527-A41C-0C723B139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99C8EBC-17FA-4674-B414-3ED246FE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862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61C388B-68BA-4BC0-B207-656998226D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9DD138C-1B66-479D-A4BA-22E79A8B7F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1AE216-C523-48DF-BE2F-3952F7DDA5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91FEFB4-5759-446E-8B52-813EFD65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456398E-D64A-4795-B8B4-9E2055300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136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F005A3-F94E-49F2-8A70-B80C94DE4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646841D-01EC-4831-9891-0DA28B338E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2DE11E9-B4DA-4BDA-9DBF-004F266C82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D021A-721B-4E5B-8ADD-1C5402524E9F}" type="datetimeFigureOut">
              <a:rPr lang="ru-RU" smtClean="0"/>
              <a:t>19.05.2026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6DC626-7132-469F-AC21-7829232672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B3184C7-0700-4317-82F4-5309852C9B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D4D15-4C13-4103-A21E-CD839E7144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161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88C9D9-797B-4DFE-9A99-1D1B68FC1C35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Session Manager</a:t>
            </a:r>
            <a:endParaRPr lang="ru-RU" sz="30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CE89F69-F2B4-4CE1-9682-FDD3DDE72AD3}"/>
              </a:ext>
            </a:extLst>
          </p:cNvPr>
          <p:cNvSpPr txBox="1"/>
          <p:nvPr/>
        </p:nvSpPr>
        <p:spPr>
          <a:xfrm>
            <a:off x="457200" y="1219200"/>
            <a:ext cx="8229600" cy="106734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Менеджер сессий — мгновенный вход в рабочие аккаунты на любом ПК</a:t>
            </a:r>
          </a:p>
          <a:p>
            <a:pPr>
              <a:lnSpc>
                <a:spcPct val="120000"/>
              </a:lnSpc>
            </a:pPr>
            <a:r>
              <a:rPr lang="ru-RU"/>
              <a:t>• Сканируй QR — открой почту, CRM, рекламные кабинеты за 5 секунд</a:t>
            </a:r>
          </a:p>
          <a:p>
            <a:pPr>
              <a:lnSpc>
                <a:spcPct val="120000"/>
              </a:lnSpc>
            </a:pPr>
            <a:r>
              <a:rPr lang="ru-RU"/>
              <a:t>• Команда: Голикова, Кушаева, Шагалин, Шибанов | Pre-seed / Seed</a:t>
            </a:r>
          </a:p>
        </p:txBody>
      </p:sp>
    </p:spTree>
    <p:extLst>
      <p:ext uri="{BB962C8B-B14F-4D97-AF65-F5344CB8AC3E}">
        <p14:creationId xmlns:p14="http://schemas.microsoft.com/office/powerpoint/2010/main" val="3257022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864345-2D94-46E1-B0E1-3D5E88C5B25E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Проблема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7D493-9C71-4221-B1B4-0CF7F7292FB2}"/>
              </a:ext>
            </a:extLst>
          </p:cNvPr>
          <p:cNvSpPr txBox="1"/>
          <p:nvPr/>
        </p:nvSpPr>
        <p:spPr>
          <a:xfrm>
            <a:off x="457200" y="1219200"/>
            <a:ext cx="8229600" cy="20645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SMM/таргетологи ведут 5-20 клиентских аккаунтов; на чужом ПК — 10-15 мин на вход и 2FA</a:t>
            </a:r>
          </a:p>
          <a:p>
            <a:pPr>
              <a:lnSpc>
                <a:spcPct val="120000"/>
              </a:lnSpc>
            </a:pPr>
            <a:r>
              <a:rPr lang="ru-RU"/>
              <a:t>• Менеджеры паролей не решают: нужен ввод мастер-пароля и ручное открытие вкладок</a:t>
            </a:r>
          </a:p>
          <a:p>
            <a:pPr>
              <a:lnSpc>
                <a:spcPct val="120000"/>
              </a:lnSpc>
            </a:pPr>
            <a:r>
              <a:rPr lang="ru-RU"/>
              <a:t>• Риск: кейлоггеры, следы на чужом компьютере, усталость → ошибки</a:t>
            </a:r>
          </a:p>
          <a:p>
            <a:pPr>
              <a:lnSpc>
                <a:spcPct val="120000"/>
              </a:lnSpc>
            </a:pPr>
            <a:r>
              <a:rPr lang="ru-RU"/>
              <a:t>• Сигнал: в интервью (№19) боль подтверждают &gt;70% респондентов</a:t>
            </a:r>
          </a:p>
        </p:txBody>
      </p:sp>
    </p:spTree>
    <p:extLst>
      <p:ext uri="{BB962C8B-B14F-4D97-AF65-F5344CB8AC3E}">
        <p14:creationId xmlns:p14="http://schemas.microsoft.com/office/powerpoint/2010/main" val="533287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F35A5B-5B8E-47F6-A98D-5045E9821DEC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Клиент и </a:t>
            </a:r>
            <a:r>
              <a:rPr lang="en-US" sz="3000" b="1"/>
              <a:t>JTBD</a:t>
            </a:r>
            <a:endParaRPr lang="ru-RU" sz="30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D3EC73-F068-45E5-A7F7-525EA7D94465}"/>
              </a:ext>
            </a:extLst>
          </p:cNvPr>
          <p:cNvSpPr txBox="1"/>
          <p:nvPr/>
        </p:nvSpPr>
        <p:spPr>
          <a:xfrm>
            <a:off x="457200" y="1219200"/>
            <a:ext cx="8229600" cy="17321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Сегмент: </a:t>
            </a:r>
            <a:r>
              <a:rPr lang="en-US"/>
              <a:t>SMM/</a:t>
            </a:r>
            <a:r>
              <a:rPr lang="ru-RU"/>
              <a:t>таргетологи </a:t>
            </a:r>
            <a:r>
              <a:rPr lang="en-US"/>
              <a:t>Junior/Middle, </a:t>
            </a:r>
            <a:r>
              <a:rPr lang="ru-RU"/>
              <a:t>фриланс и коворкинги, 5-20 аккаунтов</a:t>
            </a:r>
          </a:p>
          <a:p>
            <a:pPr>
              <a:lnSpc>
                <a:spcPct val="120000"/>
              </a:lnSpc>
            </a:pPr>
            <a:r>
              <a:rPr lang="ru-RU"/>
              <a:t>• </a:t>
            </a:r>
            <a:r>
              <a:rPr lang="en-US"/>
              <a:t>JTBD: «</a:t>
            </a:r>
            <a:r>
              <a:rPr lang="ru-RU"/>
              <a:t>Когда сажусь за чужой ПК, хочу за секунды открыть все клиентские сервисы без паролей»</a:t>
            </a:r>
          </a:p>
          <a:p>
            <a:pPr>
              <a:lnSpc>
                <a:spcPct val="120000"/>
              </a:lnSpc>
            </a:pPr>
            <a:r>
              <a:rPr lang="ru-RU"/>
              <a:t>• Платёжеспособность: зарплата сегмента ~53-89 тыс. руб./мес (</a:t>
            </a:r>
            <a:r>
              <a:rPr lang="en-US"/>
              <a:t>hh.ru, 2025)</a:t>
            </a:r>
          </a:p>
          <a:p>
            <a:pPr>
              <a:lnSpc>
                <a:spcPct val="120000"/>
              </a:lnSpc>
            </a:pPr>
            <a:r>
              <a:rPr lang="en-US"/>
              <a:t>• </a:t>
            </a:r>
            <a:r>
              <a:rPr lang="ru-RU"/>
              <a:t>Первая победа: </a:t>
            </a:r>
            <a:r>
              <a:rPr lang="en-US"/>
              <a:t>QR → </a:t>
            </a:r>
            <a:r>
              <a:rPr lang="ru-RU"/>
              <a:t>все вкладки &lt; 10 сек (</a:t>
            </a:r>
            <a:r>
              <a:rPr lang="en-US"/>
              <a:t>vs 10+ </a:t>
            </a:r>
            <a:r>
              <a:rPr lang="ru-RU"/>
              <a:t>мин)</a:t>
            </a:r>
          </a:p>
        </p:txBody>
      </p:sp>
    </p:spTree>
    <p:extLst>
      <p:ext uri="{BB962C8B-B14F-4D97-AF65-F5344CB8AC3E}">
        <p14:creationId xmlns:p14="http://schemas.microsoft.com/office/powerpoint/2010/main" val="240286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25A8488-B9C2-4061-B594-AEEF3BFAE91A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Решение и </a:t>
            </a:r>
            <a:r>
              <a:rPr lang="en-US" sz="3000" b="1"/>
              <a:t>MVP</a:t>
            </a:r>
            <a:endParaRPr lang="ru-RU" sz="30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A9E40D-F5A6-4901-9008-39AC7E6F6041}"/>
              </a:ext>
            </a:extLst>
          </p:cNvPr>
          <p:cNvSpPr txBox="1"/>
          <p:nvPr/>
        </p:nvSpPr>
        <p:spPr>
          <a:xfrm>
            <a:off x="457200" y="1219200"/>
            <a:ext cx="8229600" cy="17321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Мобильное приложение + расширение браузера: QR-авторизация, авто-открытие вкладок</a:t>
            </a:r>
          </a:p>
          <a:p>
            <a:pPr>
              <a:lnSpc>
                <a:spcPct val="120000"/>
              </a:lnSpc>
            </a:pPr>
            <a:r>
              <a:rPr lang="ru-RU"/>
              <a:t>• Пароли только на телефоне; сессия в инкогнито, авто-закрытие</a:t>
            </a:r>
          </a:p>
          <a:p>
            <a:pPr>
              <a:lnSpc>
                <a:spcPct val="120000"/>
              </a:lnSpc>
            </a:pPr>
            <a:r>
              <a:rPr lang="ru-RU"/>
              <a:t>• Сейчас: Concierge MVP + лендинг + демо (практика №19)</a:t>
            </a:r>
          </a:p>
          <a:p>
            <a:pPr>
              <a:lnSpc>
                <a:spcPct val="120000"/>
              </a:lnSpc>
            </a:pPr>
            <a:r>
              <a:rPr lang="ru-RU"/>
              <a:t>• Далее: полноценный MVP за счёт seed</a:t>
            </a:r>
          </a:p>
        </p:txBody>
      </p:sp>
    </p:spTree>
    <p:extLst>
      <p:ext uri="{BB962C8B-B14F-4D97-AF65-F5344CB8AC3E}">
        <p14:creationId xmlns:p14="http://schemas.microsoft.com/office/powerpoint/2010/main" val="476591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42E4D4-BBF9-46B2-8207-A345EC2D8A7A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Рынок (</a:t>
            </a:r>
            <a:r>
              <a:rPr lang="en-US" sz="3000" b="1"/>
              <a:t>TAM / SAM / SOM)</a:t>
            </a:r>
            <a:endParaRPr lang="ru-RU" sz="30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65CDF-4FE4-466E-9256-A287C16B9109}"/>
              </a:ext>
            </a:extLst>
          </p:cNvPr>
          <p:cNvSpPr txBox="1"/>
          <p:nvPr/>
        </p:nvSpPr>
        <p:spPr>
          <a:xfrm>
            <a:off x="457200" y="1219200"/>
            <a:ext cx="8229600" cy="17321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/>
              <a:t>• TAM: ~350 </a:t>
            </a:r>
            <a:r>
              <a:rPr lang="ru-RU"/>
              <a:t>тыс. специалистов </a:t>
            </a:r>
            <a:r>
              <a:rPr lang="en-US"/>
              <a:t>digital/SMM </a:t>
            </a:r>
            <a:r>
              <a:rPr lang="ru-RU"/>
              <a:t>в РФ × 490 руб. × 12 ≈ 2,0 млрд руб./год (допущение: 350 тыс. — оценка команды на базе открытых вакансий </a:t>
            </a:r>
            <a:r>
              <a:rPr lang="en-US"/>
              <a:t>hh)</a:t>
            </a:r>
          </a:p>
          <a:p>
            <a:pPr>
              <a:lnSpc>
                <a:spcPct val="120000"/>
              </a:lnSpc>
            </a:pPr>
            <a:r>
              <a:rPr lang="en-US"/>
              <a:t>• SAM: ~80 </a:t>
            </a:r>
            <a:r>
              <a:rPr lang="ru-RU"/>
              <a:t>тыс. активно работают с чужих ПК/коворкингов ≈ 470 млн руб./год</a:t>
            </a:r>
          </a:p>
          <a:p>
            <a:pPr>
              <a:lnSpc>
                <a:spcPct val="120000"/>
              </a:lnSpc>
            </a:pPr>
            <a:r>
              <a:rPr lang="ru-RU"/>
              <a:t>• </a:t>
            </a:r>
            <a:r>
              <a:rPr lang="en-US"/>
              <a:t>SOM (3 </a:t>
            </a:r>
            <a:r>
              <a:rPr lang="ru-RU"/>
              <a:t>года): 1 500 платящих ≈ 8,8 млн руб. </a:t>
            </a:r>
            <a:r>
              <a:rPr lang="en-US"/>
              <a:t>ARR</a:t>
            </a:r>
          </a:p>
          <a:p>
            <a:pPr>
              <a:lnSpc>
                <a:spcPct val="120000"/>
              </a:lnSpc>
            </a:pPr>
            <a:r>
              <a:rPr lang="en-US"/>
              <a:t>• </a:t>
            </a:r>
            <a:r>
              <a:rPr lang="ru-RU"/>
              <a:t>Контекст: рынок </a:t>
            </a:r>
            <a:r>
              <a:rPr lang="en-US"/>
              <a:t>SaaS </a:t>
            </a:r>
            <a:r>
              <a:rPr lang="ru-RU"/>
              <a:t>РФ ~201 млрд руб., +14% г/г (</a:t>
            </a:r>
            <a:r>
              <a:rPr lang="en-US"/>
              <a:t>TAdviser, 2024)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1817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B0682-A044-4CCB-A371-FA1267C06C95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Конкуренция и позиционирование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E86BFA-70BA-4759-9B26-436A0A0B2D25}"/>
              </a:ext>
            </a:extLst>
          </p:cNvPr>
          <p:cNvSpPr txBox="1"/>
          <p:nvPr/>
        </p:nvSpPr>
        <p:spPr>
          <a:xfrm>
            <a:off x="457200" y="1219200"/>
            <a:ext cx="8229600" cy="206454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Заменители: LastPass/Bitwarden/Kaspersky PM — хранят пароли, не «рабочее место за 5 сек»</a:t>
            </a:r>
          </a:p>
          <a:p>
            <a:pPr>
              <a:lnSpc>
                <a:spcPct val="120000"/>
              </a:lnSpc>
            </a:pPr>
            <a:r>
              <a:rPr lang="ru-RU"/>
              <a:t>• Ручной ввод, закладки, профили браузера — медленно и небезопасно</a:t>
            </a:r>
          </a:p>
          <a:p>
            <a:pPr>
              <a:lnSpc>
                <a:spcPct val="120000"/>
              </a:lnSpc>
            </a:pPr>
            <a:r>
              <a:rPr lang="ru-RU"/>
              <a:t>• Мы: телефон как физический ключ + мгновенное открытие стека вкладок на чужом ПК</a:t>
            </a:r>
          </a:p>
          <a:p>
            <a:pPr>
              <a:lnSpc>
                <a:spcPct val="120000"/>
              </a:lnSpc>
            </a:pPr>
            <a:r>
              <a:rPr lang="ru-RU"/>
              <a:t>• Цена Pro 490 руб./мес — сопоставимо с 1Password ~550 руб./мес</a:t>
            </a:r>
          </a:p>
        </p:txBody>
      </p:sp>
    </p:spTree>
    <p:extLst>
      <p:ext uri="{BB962C8B-B14F-4D97-AF65-F5344CB8AC3E}">
        <p14:creationId xmlns:p14="http://schemas.microsoft.com/office/powerpoint/2010/main" val="36646486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EBC4413-840D-4490-AEAF-1186A64719C0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Бизнес-модель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2F495E-D2B7-49AD-B0C4-85D5A1D99AC0}"/>
              </a:ext>
            </a:extLst>
          </p:cNvPr>
          <p:cNvSpPr txBox="1"/>
          <p:nvPr/>
        </p:nvSpPr>
        <p:spPr>
          <a:xfrm>
            <a:off x="457200" y="1219200"/>
            <a:ext cx="8229600" cy="13997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/>
              <a:t>• Freemium → Pro: 490 </a:t>
            </a:r>
            <a:r>
              <a:rPr lang="ru-RU"/>
              <a:t>руб./мес | Корп. (агентства): 1 490 руб./мес с 9-го мес.</a:t>
            </a:r>
          </a:p>
          <a:p>
            <a:pPr>
              <a:lnSpc>
                <a:spcPct val="120000"/>
              </a:lnSpc>
            </a:pPr>
            <a:r>
              <a:rPr lang="ru-RU"/>
              <a:t>• </a:t>
            </a:r>
            <a:r>
              <a:rPr lang="en-US"/>
              <a:t>LTV (</a:t>
            </a:r>
            <a:r>
              <a:rPr lang="ru-RU"/>
              <a:t>оценка): </a:t>
            </a:r>
            <a:r>
              <a:rPr lang="en-US"/>
              <a:t>ARPU / churn ≈ 9 800 </a:t>
            </a:r>
            <a:r>
              <a:rPr lang="ru-RU"/>
              <a:t>руб. при </a:t>
            </a:r>
            <a:r>
              <a:rPr lang="en-US"/>
              <a:t>churn 5%</a:t>
            </a:r>
          </a:p>
          <a:p>
            <a:pPr>
              <a:lnSpc>
                <a:spcPct val="120000"/>
              </a:lnSpc>
            </a:pPr>
            <a:r>
              <a:rPr lang="en-US"/>
              <a:t>• CAC </a:t>
            </a:r>
            <a:r>
              <a:rPr lang="ru-RU"/>
              <a:t>цель: &lt; 2 000 руб. (</a:t>
            </a:r>
            <a:r>
              <a:rPr lang="en-US"/>
              <a:t>TG + </a:t>
            </a:r>
            <a:r>
              <a:rPr lang="ru-RU"/>
              <a:t>коворкинги)</a:t>
            </a:r>
          </a:p>
          <a:p>
            <a:pPr>
              <a:lnSpc>
                <a:spcPct val="120000"/>
              </a:lnSpc>
            </a:pPr>
            <a:r>
              <a:rPr lang="ru-RU"/>
              <a:t>• Валовая маржа &gt;65% (модель №24)</a:t>
            </a:r>
          </a:p>
        </p:txBody>
      </p:sp>
    </p:spTree>
    <p:extLst>
      <p:ext uri="{BB962C8B-B14F-4D97-AF65-F5344CB8AC3E}">
        <p14:creationId xmlns:p14="http://schemas.microsoft.com/office/powerpoint/2010/main" val="3980840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B80FFD-EEED-4BEA-8B70-723A9C88DC04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GTM </a:t>
            </a:r>
            <a:r>
              <a:rPr lang="ru-RU" sz="3000" b="1"/>
              <a:t>и рост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213AE09-16D7-43B1-BA91-8B3AC5C66001}"/>
              </a:ext>
            </a:extLst>
          </p:cNvPr>
          <p:cNvSpPr txBox="1"/>
          <p:nvPr/>
        </p:nvSpPr>
        <p:spPr>
          <a:xfrm>
            <a:off x="457200" y="1219200"/>
            <a:ext cx="8229600" cy="13997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Ядро роста: Telegram-аутрич + партнёрства с коворкингами (№24)</a:t>
            </a:r>
          </a:p>
          <a:p>
            <a:pPr>
              <a:lnSpc>
                <a:spcPct val="120000"/>
              </a:lnSpc>
            </a:pPr>
            <a:r>
              <a:rPr lang="ru-RU"/>
              <a:t>• Петля: демо → кейс в чате → реферал</a:t>
            </a:r>
          </a:p>
          <a:p>
            <a:pPr>
              <a:lnSpc>
                <a:spcPct val="120000"/>
              </a:lnSpc>
            </a:pPr>
            <a:r>
              <a:rPr lang="ru-RU"/>
              <a:t>• Эксперименты: A/B лендинга, скрипты TG, QR на стойке коворкинга</a:t>
            </a:r>
          </a:p>
          <a:p>
            <a:pPr>
              <a:lnSpc>
                <a:spcPct val="120000"/>
              </a:lnSpc>
            </a:pPr>
            <a:r>
              <a:rPr lang="ru-RU"/>
              <a:t>• NSM: квалифицированные интервью/нед → конверсия в платящих</a:t>
            </a:r>
          </a:p>
        </p:txBody>
      </p:sp>
    </p:spTree>
    <p:extLst>
      <p:ext uri="{BB962C8B-B14F-4D97-AF65-F5344CB8AC3E}">
        <p14:creationId xmlns:p14="http://schemas.microsoft.com/office/powerpoint/2010/main" val="3570024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613BDD-8BB5-4D34-A238-6B01597D4342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Traction </a:t>
            </a:r>
            <a:r>
              <a:rPr lang="ru-RU" sz="3000" b="1"/>
              <a:t>и валидация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31BEA-244B-4260-A765-C876FFDA89D5}"/>
              </a:ext>
            </a:extLst>
          </p:cNvPr>
          <p:cNvSpPr txBox="1"/>
          <p:nvPr/>
        </p:nvSpPr>
        <p:spPr>
          <a:xfrm>
            <a:off x="457200" y="1219200"/>
            <a:ext cx="8229600" cy="13997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20+ интервью, </a:t>
            </a:r>
            <a:r>
              <a:rPr lang="en-US"/>
              <a:t>Concierge-</a:t>
            </a:r>
            <a:r>
              <a:rPr lang="ru-RU"/>
              <a:t>демо, воронка </a:t>
            </a:r>
            <a:r>
              <a:rPr lang="en-US"/>
              <a:t>AARRR</a:t>
            </a:r>
          </a:p>
          <a:p>
            <a:pPr>
              <a:lnSpc>
                <a:spcPct val="120000"/>
              </a:lnSpc>
            </a:pPr>
            <a:r>
              <a:rPr lang="en-US"/>
              <a:t>• </a:t>
            </a:r>
            <a:r>
              <a:rPr lang="ru-RU"/>
              <a:t>Цели </a:t>
            </a:r>
            <a:r>
              <a:rPr lang="en-US"/>
              <a:t>seed-</a:t>
            </a:r>
            <a:r>
              <a:rPr lang="ru-RU"/>
              <a:t>периода: 10 платящих к мес. 3; 15+ к мес. 6</a:t>
            </a:r>
          </a:p>
          <a:p>
            <a:pPr>
              <a:lnSpc>
                <a:spcPct val="120000"/>
              </a:lnSpc>
            </a:pPr>
            <a:r>
              <a:rPr lang="ru-RU"/>
              <a:t>• План: 3 пилота </a:t>
            </a:r>
            <a:r>
              <a:rPr lang="en-US"/>
              <a:t>B2B (</a:t>
            </a:r>
            <a:r>
              <a:rPr lang="ru-RU"/>
              <a:t>коворкинг/</a:t>
            </a:r>
            <a:r>
              <a:rPr lang="en-US"/>
              <a:t>IT-</a:t>
            </a:r>
            <a:r>
              <a:rPr lang="ru-RU"/>
              <a:t>школа)</a:t>
            </a:r>
          </a:p>
          <a:p>
            <a:pPr>
              <a:lnSpc>
                <a:spcPct val="120000"/>
              </a:lnSpc>
            </a:pPr>
            <a:r>
              <a:rPr lang="ru-RU"/>
              <a:t>• Критерий </a:t>
            </a:r>
            <a:r>
              <a:rPr lang="en-US"/>
              <a:t>PMF: MRR &gt;= 8 500 </a:t>
            </a:r>
            <a:r>
              <a:rPr lang="ru-RU"/>
              <a:t>руб., </a:t>
            </a:r>
            <a:r>
              <a:rPr lang="en-US"/>
              <a:t>LTV/CAC &gt; 3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6144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0EB42E-DE63-4932-A873-CB585809396A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Финансы (</a:t>
            </a:r>
            <a:r>
              <a:rPr lang="en-US" sz="3000" b="1"/>
              <a:t>base, </a:t>
            </a:r>
            <a:r>
              <a:rPr lang="ru-RU" sz="3000" b="1"/>
              <a:t>руб.)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A2F30A-1F72-41CE-8127-C954BC8A52D5}"/>
              </a:ext>
            </a:extLst>
          </p:cNvPr>
          <p:cNvSpPr txBox="1"/>
          <p:nvPr/>
        </p:nvSpPr>
        <p:spPr>
          <a:xfrm>
            <a:off x="457200" y="1219200"/>
            <a:ext cx="8229600" cy="13997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Выручка 12 мес.: ~52 000 | </a:t>
            </a:r>
            <a:r>
              <a:rPr lang="en-US"/>
              <a:t>MRR </a:t>
            </a:r>
            <a:r>
              <a:rPr lang="ru-RU"/>
              <a:t>мес. 24: ~15 200 | </a:t>
            </a:r>
            <a:r>
              <a:rPr lang="en-US"/>
              <a:t>ARR run-rate: ~183 000</a:t>
            </a:r>
          </a:p>
          <a:p>
            <a:pPr>
              <a:lnSpc>
                <a:spcPct val="120000"/>
              </a:lnSpc>
            </a:pPr>
            <a:r>
              <a:rPr lang="en-US"/>
              <a:t>• ARR </a:t>
            </a:r>
            <a:r>
              <a:rPr lang="ru-RU"/>
              <a:t>год 5 (прогноз): 22 млн руб. | </a:t>
            </a:r>
            <a:r>
              <a:rPr lang="en-US"/>
              <a:t>Pre-money: 25-40 </a:t>
            </a:r>
            <a:r>
              <a:rPr lang="ru-RU"/>
              <a:t>млн руб.</a:t>
            </a:r>
          </a:p>
          <a:p>
            <a:pPr>
              <a:lnSpc>
                <a:spcPct val="120000"/>
              </a:lnSpc>
            </a:pPr>
            <a:r>
              <a:rPr lang="ru-RU"/>
              <a:t>• Безубыточность (</a:t>
            </a:r>
            <a:r>
              <a:rPr lang="en-US"/>
              <a:t>base): ~20-22 </a:t>
            </a:r>
            <a:r>
              <a:rPr lang="ru-RU"/>
              <a:t>мес. | </a:t>
            </a:r>
            <a:r>
              <a:rPr lang="en-US"/>
              <a:t>Seed: 10 </a:t>
            </a:r>
            <a:r>
              <a:rPr lang="ru-RU"/>
              <a:t>млн руб. на 18 мес.</a:t>
            </a:r>
          </a:p>
          <a:p>
            <a:pPr>
              <a:lnSpc>
                <a:spcPct val="120000"/>
              </a:lnSpc>
            </a:pPr>
            <a:r>
              <a:rPr lang="ru-RU"/>
              <a:t>• Детали: </a:t>
            </a:r>
            <a:r>
              <a:rPr lang="en-US"/>
              <a:t>Excel «</a:t>
            </a:r>
            <a:r>
              <a:rPr lang="ru-RU"/>
              <a:t>Финансовый план» (практика №24)</a:t>
            </a:r>
          </a:p>
        </p:txBody>
      </p:sp>
    </p:spTree>
    <p:extLst>
      <p:ext uri="{BB962C8B-B14F-4D97-AF65-F5344CB8AC3E}">
        <p14:creationId xmlns:p14="http://schemas.microsoft.com/office/powerpoint/2010/main" val="13221608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9D575E-DCBF-498B-9E84-339642E049E0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ru-RU" sz="3000" b="1"/>
              <a:t>Команда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D168C8D-AC58-4D49-933B-D8101004D375}"/>
              </a:ext>
            </a:extLst>
          </p:cNvPr>
          <p:cNvSpPr txBox="1"/>
          <p:nvPr/>
        </p:nvSpPr>
        <p:spPr>
          <a:xfrm>
            <a:off x="457200" y="1219200"/>
            <a:ext cx="8229600" cy="17321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Голикова — продукт, исследования, интервью</a:t>
            </a:r>
          </a:p>
          <a:p>
            <a:pPr>
              <a:lnSpc>
                <a:spcPct val="120000"/>
              </a:lnSpc>
            </a:pPr>
            <a:r>
              <a:rPr lang="ru-RU"/>
              <a:t>• Кушаева — маркетинг, TG-канал, контент</a:t>
            </a:r>
          </a:p>
          <a:p>
            <a:pPr>
              <a:lnSpc>
                <a:spcPct val="120000"/>
              </a:lnSpc>
            </a:pPr>
            <a:r>
              <a:rPr lang="ru-RU"/>
              <a:t>• Шагалин — разработка, архитектура безопасности</a:t>
            </a:r>
          </a:p>
          <a:p>
            <a:pPr>
              <a:lnSpc>
                <a:spcPct val="120000"/>
              </a:lnSpc>
            </a:pPr>
            <a:r>
              <a:rPr lang="ru-RU"/>
              <a:t>• Шибанов — GTM, партнёрства с коворкингами</a:t>
            </a:r>
          </a:p>
          <a:p>
            <a:pPr>
              <a:lnSpc>
                <a:spcPct val="120000"/>
              </a:lnSpc>
            </a:pPr>
            <a:r>
              <a:rPr lang="ru-RU"/>
              <a:t>• Советники (план): эксперт по InfoSec, ментор из SMM-сообщества</a:t>
            </a:r>
          </a:p>
        </p:txBody>
      </p:sp>
    </p:spTree>
    <p:extLst>
      <p:ext uri="{BB962C8B-B14F-4D97-AF65-F5344CB8AC3E}">
        <p14:creationId xmlns:p14="http://schemas.microsoft.com/office/powerpoint/2010/main" val="4206907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5090C-767D-4BEB-88EC-43DB62830B2F}"/>
              </a:ext>
            </a:extLst>
          </p:cNvPr>
          <p:cNvSpPr txBox="1"/>
          <p:nvPr/>
        </p:nvSpPr>
        <p:spPr>
          <a:xfrm>
            <a:off x="457200" y="355600"/>
            <a:ext cx="82296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Ask — </a:t>
            </a:r>
            <a:r>
              <a:rPr lang="ru-RU" sz="3000" b="1"/>
              <a:t>инвестиционный оффер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FBADC-EAAD-4170-A608-CC72CE97DFF7}"/>
              </a:ext>
            </a:extLst>
          </p:cNvPr>
          <p:cNvSpPr txBox="1"/>
          <p:nvPr/>
        </p:nvSpPr>
        <p:spPr>
          <a:xfrm>
            <a:off x="457200" y="1219200"/>
            <a:ext cx="8229600" cy="139974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>
              <a:lnSpc>
                <a:spcPct val="120000"/>
              </a:lnSpc>
            </a:pPr>
            <a:r>
              <a:rPr lang="ru-RU"/>
              <a:t>• Привлекаем: 10 000 000 руб. (</a:t>
            </a:r>
            <a:r>
              <a:rPr lang="en-US"/>
              <a:t>seed, ~22% </a:t>
            </a:r>
            <a:r>
              <a:rPr lang="ru-RU"/>
              <a:t>доли)</a:t>
            </a:r>
          </a:p>
          <a:p>
            <a:pPr>
              <a:lnSpc>
                <a:spcPct val="120000"/>
              </a:lnSpc>
            </a:pPr>
            <a:r>
              <a:rPr lang="ru-RU"/>
              <a:t>• </a:t>
            </a:r>
            <a:r>
              <a:rPr lang="en-US"/>
              <a:t>Use of funds: 45% </a:t>
            </a:r>
            <a:r>
              <a:rPr lang="ru-RU"/>
              <a:t>продукт | 25% маркетинг | 20% инфра | 10% </a:t>
            </a:r>
            <a:r>
              <a:rPr lang="en-US"/>
              <a:t>ops</a:t>
            </a:r>
          </a:p>
          <a:p>
            <a:pPr>
              <a:lnSpc>
                <a:spcPct val="120000"/>
              </a:lnSpc>
            </a:pPr>
            <a:r>
              <a:rPr lang="en-US"/>
              <a:t>• 6 </a:t>
            </a:r>
            <a:r>
              <a:rPr lang="ru-RU"/>
              <a:t>мес.: </a:t>
            </a:r>
            <a:r>
              <a:rPr lang="en-US"/>
              <a:t>MVP + 15 </a:t>
            </a:r>
            <a:r>
              <a:rPr lang="ru-RU"/>
              <a:t>платящих + 3 пилота + </a:t>
            </a:r>
            <a:r>
              <a:rPr lang="en-US"/>
              <a:t>MRR &gt;= 8 500 </a:t>
            </a:r>
            <a:r>
              <a:rPr lang="ru-RU"/>
              <a:t>руб.</a:t>
            </a:r>
          </a:p>
          <a:p>
            <a:pPr>
              <a:lnSpc>
                <a:spcPct val="120000"/>
              </a:lnSpc>
            </a:pPr>
            <a:r>
              <a:rPr lang="ru-RU"/>
              <a:t>• Контакты: [</a:t>
            </a:r>
            <a:r>
              <a:rPr lang="en-US"/>
              <a:t>email/Telegram </a:t>
            </a:r>
            <a:r>
              <a:rPr lang="ru-RU"/>
              <a:t>команды]</a:t>
            </a:r>
          </a:p>
        </p:txBody>
      </p:sp>
    </p:spTree>
    <p:extLst>
      <p:ext uri="{BB962C8B-B14F-4D97-AF65-F5344CB8AC3E}">
        <p14:creationId xmlns:p14="http://schemas.microsoft.com/office/powerpoint/2010/main" val="78447938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PresentationFormat>Широкоэкранный</PresentationFormat>
  <Paragraphs>70</Paragraphs>
  <Slides>12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Герман Шибанов</dc:creator>
  <cp:lastModifiedBy>Герман Шибанов</cp:lastModifiedBy>
  <cp:revision>1</cp:revision>
  <dcterms:created xsi:type="dcterms:W3CDTF">2026-05-19T10:16:51Z</dcterms:created>
  <dcterms:modified xsi:type="dcterms:W3CDTF">2026-05-19T10:16:52Z</dcterms:modified>
</cp:coreProperties>
</file>